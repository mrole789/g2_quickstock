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9391B-720E-F447-BF65-BB34284943F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F9C85A-8193-7F45-B7CE-8CFA88D7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979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9C85A-8193-7F45-B7CE-8CFA88D749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769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10FD2-B1A1-A5C1-CE64-58C1FC400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C5A575-746E-FE7D-CD0D-DADF0D8FE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E2200-05B1-75F1-378C-02D8B30D1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5E5-37D5-F944-9904-8F4CEB37EFD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4617B-5E8C-A07C-EAF6-0BE6200CB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172DC-A616-63A4-DD15-7490D9D92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F00E-A0F8-354D-AE04-87763C89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68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63862-52A4-BB24-34FC-9EC50A970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1EAAF-043B-6DEB-69B1-B7619FE19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2902D-CCE1-7021-D25C-1DCE57A50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5E5-37D5-F944-9904-8F4CEB37EFD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CC4B0-3CB8-C653-39EB-0A35DCA33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0DC93-8017-E3D5-9F66-626461C06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F00E-A0F8-354D-AE04-87763C89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85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8A074-CEED-5BAC-16ED-6E9BF4B8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AF088-C435-313F-BE1F-43422794D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C231F-53E2-A3DA-0606-F5ADEF0B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5E5-37D5-F944-9904-8F4CEB37EFD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E3011-AC71-308C-10DF-AF517AFD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B5B75-F988-D290-F798-841B4DEFF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F00E-A0F8-354D-AE04-87763C89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32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1F26-7D5F-D27A-B0AA-72B5AE570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195F2-11EF-0218-99D0-8EAF4C6C4B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C1C21F-F6D4-952E-3809-797D739DE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E56B8-92B3-E3AE-FC03-0E37B110B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5E5-37D5-F944-9904-8F4CEB37EFD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52CC4-EB46-F87B-5215-5D4C91827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8011F-2467-3141-18E2-3A4AECA63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F00E-A0F8-354D-AE04-87763C89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96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0C2A0-27B8-D495-8D09-7404214B4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A0F56-8B64-3C16-01DC-C362FDD52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FAD99-53C4-7548-E842-61FEB5378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B3E734-3291-E2C4-B98B-CF53F71987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B8216C-5CF8-58D6-A724-3254E99306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AA63B9-9E48-DFA1-D03A-570358D61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5E5-37D5-F944-9904-8F4CEB37EFD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580E0A-41AF-0CA9-27CA-951639F33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230927-62CF-DBD9-B837-3D6DEA4F0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F00E-A0F8-354D-AE04-87763C89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59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02FFF-C789-6CA3-64AD-BB08BBBD6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7249F8-DDF6-6DFE-E15C-0A8553607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5E5-37D5-F944-9904-8F4CEB37EFD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40B12-4316-CEBE-7FAB-6F3EE0AD0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215C0-BBFB-0C85-F29A-22746474E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F00E-A0F8-354D-AE04-87763C89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75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5BBFFA-24D6-CD4F-6AA4-CD4AF1468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5E5-37D5-F944-9904-8F4CEB37EFD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01C0B0-1367-BCD7-FA41-CBD8CA455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0C98B-5CFC-9B34-DC11-16F7108FD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F00E-A0F8-354D-AE04-87763C89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03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A8555-5FDD-4B17-1E36-4C0421052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2DE26-2B33-EE8A-0674-35245831C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9172D-1ED6-D168-F159-A19ED500C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AB0EB-3B8A-96D8-C795-958730429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5E5-37D5-F944-9904-8F4CEB37EFD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DEE6E-F87E-5D3C-5D3B-52D0696CC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7D284-67BD-8C9B-08ED-6BB1BF429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F00E-A0F8-354D-AE04-87763C89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360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792B-B5B5-DD88-C550-78F89413D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0CBF31-65EC-B70B-0C47-E43B4F8058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E92BB-73B8-6F91-C620-9AF9E90A5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53A1A-6885-9FC7-DEE0-08F975ECF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5E5-37D5-F944-9904-8F4CEB37EFD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BFCE7-D467-2083-1279-9682F1233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3DC57-1733-65DE-4693-3163F63B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F00E-A0F8-354D-AE04-87763C89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37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E6787-2ABE-79B5-CC2A-05C4726A8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80ADD-4A9B-E43A-8369-DE0161DE0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B38CA-5955-1DEA-A196-C48235888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5E5-37D5-F944-9904-8F4CEB37EFD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46337-008E-A5ED-B0E1-B648A5B2F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F45D7-28DF-64C7-C01A-C80758F29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F00E-A0F8-354D-AE04-87763C89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52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7D0764-451C-05C5-08EE-2BBEE27EF4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F620E-7999-FA18-3417-0C172878E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49D42-09E2-6F08-9026-7129EAB77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5E5-37D5-F944-9904-8F4CEB37EFD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9E923-0276-5C3D-6763-43041A807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150E7-9850-492D-CEFB-891D530EF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F00E-A0F8-354D-AE04-87763C89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3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50AF2-88B4-1D82-88D9-590DC3CE5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BF875-EA88-5761-2773-461E6B22C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D250E-4110-8555-70F9-4F35594CA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235E5-37D5-F944-9904-8F4CEB37EFD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CC4E5-A1E1-B73A-8B66-B97F41420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F1877-7246-EBD3-647C-C893C33CF3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BF00E-A0F8-354D-AE04-87763C89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332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56D84-D2D2-4DDA-BD31-9DAF869DB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0" i="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Retail Management System</a:t>
            </a:r>
            <a:endParaRPr lang="en-US" sz="4400" kern="1200"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10753-4829-562F-AF97-3D4FCF7FE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i="0">
                <a:effectLst/>
              </a:rPr>
              <a:t>Group Name:Group 2</a:t>
            </a:r>
            <a:endParaRPr lang="en-US" b="1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i="0">
                <a:effectLst/>
              </a:rPr>
              <a:t>Group Members: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>
              <a:effectLst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· Semenu Leticia 10310307</a:t>
            </a:r>
            <a:endParaRPr lang="en-US">
              <a:effectLst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· Naa Amerley Adom Laura 10309724</a:t>
            </a:r>
            <a:endParaRPr lang="en-US">
              <a:effectLst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· Amihere Leticia 10309581</a:t>
            </a:r>
            <a:endParaRPr lang="en-US">
              <a:effectLst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· Chima Kennedy Elorm 10306819</a:t>
            </a:r>
            <a:endParaRPr lang="en-US">
              <a:effectLst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· Lawson Laud Willian 10306832</a:t>
            </a:r>
            <a:endParaRPr lang="en-US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74343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6" name="Graphic 15" descr="Computer">
            <a:extLst>
              <a:ext uri="{FF2B5EF4-FFF2-40B4-BE49-F238E27FC236}">
                <a16:creationId xmlns:a16="http://schemas.microsoft.com/office/drawing/2014/main" id="{08E499A4-217E-5E65-F9B7-A81BC08A9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1053" y="953955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51" name="Arc 50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7349C-0CC6-8587-75E4-38F8FEDEF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n-CA" sz="2800" b="1" i="0">
                <a:effectLst/>
                <a:latin typeface="UICTFontTextStyleBody"/>
              </a:rPr>
              <a:t>Meet PrimeTech Electronics Ghana</a:t>
            </a:r>
            <a:br>
              <a:rPr lang="en-CA" sz="2800" b="1">
                <a:effectLst/>
                <a:latin typeface=".AppleSystemUIFont"/>
              </a:rPr>
            </a:br>
            <a:endParaRPr lang="en-US" sz="28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EBD9A-DF6F-B704-DEBA-1B6F7C5D3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>
            <a:normAutofit/>
          </a:bodyPr>
          <a:lstStyle/>
          <a:p>
            <a:r>
              <a:rPr lang="en-CA" sz="1500" b="1" i="0">
                <a:effectLst/>
                <a:latin typeface="UICTFontTextStyleBody"/>
              </a:rPr>
              <a:t>Company</a:t>
            </a:r>
            <a:r>
              <a:rPr lang="en-CA" sz="1500" b="0" i="0">
                <a:effectLst/>
                <a:latin typeface="UICTFontTextStyleBody"/>
              </a:rPr>
              <a:t>: PrimeTech Electronics Ghana. A typical small to medium-sized retail business in Ghana dealing with electronics. Relies on manual record-keeping using notebooks and simple spreadsheets.This outdated method is common among local businesses, leading to widespread inefficiencies.</a:t>
            </a:r>
          </a:p>
          <a:p>
            <a:pPr marL="0" indent="0">
              <a:buNone/>
            </a:pPr>
            <a:endParaRPr lang="en-CA" sz="1500"/>
          </a:p>
          <a:p>
            <a:pPr marL="0" indent="0">
              <a:buNone/>
            </a:pPr>
            <a:endParaRPr lang="en-CA" sz="1500" b="1"/>
          </a:p>
          <a:p>
            <a:pPr marL="0" indent="0">
              <a:buNone/>
            </a:pPr>
            <a:r>
              <a:rPr lang="en-CA" sz="1500" b="1"/>
              <a:t>Problem Statement</a:t>
            </a:r>
          </a:p>
          <a:p>
            <a:pPr marL="0" indent="0">
              <a:buNone/>
            </a:pPr>
            <a:r>
              <a:rPr lang="en-CA" sz="1500" b="1"/>
              <a:t>The Challenge: </a:t>
            </a:r>
            <a:r>
              <a:rPr lang="en-CA" sz="1500"/>
              <a:t>Manual Inefficiency· Difficulty tracking real-time product stock levels.· Frequent errors in sales calculations and receipts.· Time-consuming generation of daily sales reports.</a:t>
            </a:r>
          </a:p>
          <a:p>
            <a:pPr marL="0" indent="0">
              <a:buNone/>
            </a:pPr>
            <a:endParaRPr lang="en-CA" sz="1500"/>
          </a:p>
          <a:p>
            <a:pPr marL="0" indent="0">
              <a:buNone/>
            </a:pPr>
            <a:r>
              <a:rPr lang="en-CA" sz="1500" b="1"/>
              <a:t>Result</a:t>
            </a:r>
            <a:r>
              <a:rPr lang="en-CA" sz="1500"/>
              <a:t>: Stock-outs, overstocking, financial losses.</a:t>
            </a:r>
          </a:p>
        </p:txBody>
      </p:sp>
    </p:spTree>
    <p:extLst>
      <p:ext uri="{BB962C8B-B14F-4D97-AF65-F5344CB8AC3E}">
        <p14:creationId xmlns:p14="http://schemas.microsoft.com/office/powerpoint/2010/main" val="127419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6" name="Graphic 15" descr="Bullseye">
            <a:extLst>
              <a:ext uri="{FF2B5EF4-FFF2-40B4-BE49-F238E27FC236}">
                <a16:creationId xmlns:a16="http://schemas.microsoft.com/office/drawing/2014/main" id="{79FFB6BF-8673-9E30-0DA6-1A009FAAC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1053" y="953955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23" name="Arc 22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839778-A76C-88E8-0453-587657C46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n-CA" b="0" i="0">
                <a:effectLst/>
                <a:latin typeface="UICTFontTextStyleBody"/>
              </a:rPr>
              <a:t>Project Objectives</a:t>
            </a:r>
            <a:br>
              <a:rPr lang="en-CA">
                <a:effectLst/>
                <a:latin typeface=".AppleSystemUIFont"/>
              </a:rPr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771E6-B930-44C5-8C01-878E2CDC3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b="1" i="0">
                <a:effectLst/>
                <a:latin typeface="UICTFontTextStyleBody"/>
              </a:rPr>
              <a:t>Our Solution: The G2 QuickStock System</a:t>
            </a:r>
            <a:endParaRPr lang="en-CA" sz="2000" b="1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en-CA" sz="2000" b="0" i="0">
                <a:effectLst/>
                <a:latin typeface="UICTFontTextStyleBody"/>
              </a:rPr>
              <a:t>The system aims to:</a:t>
            </a:r>
            <a:endParaRPr lang="en-CA" sz="2000">
              <a:effectLst/>
              <a:latin typeface=".AppleSystemUIFont"/>
            </a:endParaRPr>
          </a:p>
          <a:p>
            <a:pPr marL="0" indent="0">
              <a:buNone/>
            </a:pPr>
            <a:br>
              <a:rPr lang="en-CA" sz="2000">
                <a:effectLst/>
                <a:latin typeface=".AppleSystemUIFont"/>
              </a:rPr>
            </a:br>
            <a:r>
              <a:rPr lang="en-CA" sz="2000" b="0" i="0">
                <a:effectLst/>
                <a:latin typeface="UICTFontTextStyleBody"/>
              </a:rPr>
              <a:t>1. Automate Sales Transactions for speed and accuracy.</a:t>
            </a:r>
            <a:endParaRPr lang="en-CA" sz="200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en-CA" sz="2000" b="0" i="0">
                <a:effectLst/>
                <a:latin typeface="UICTFontTextStyleBody"/>
              </a:rPr>
              <a:t>2. Maintain Accurate Inventory in real-time.</a:t>
            </a:r>
            <a:endParaRPr lang="en-CA" sz="200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en-CA" sz="2000" b="0" i="0">
                <a:effectLst/>
                <a:latin typeface="UICTFontTextStyleBody"/>
              </a:rPr>
              <a:t>3. Improve Data Management for products and sales.</a:t>
            </a:r>
            <a:endParaRPr lang="en-CA" sz="200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en-CA" sz="2000" b="0" i="0">
                <a:effectLst/>
                <a:latin typeface="UICTFontTextStyleBody"/>
              </a:rPr>
              <a:t>4. Generate Basic Reports for key business insights.</a:t>
            </a:r>
            <a:endParaRPr lang="en-CA" sz="200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en-CA" sz="2000" b="0" i="0">
                <a:effectLst/>
                <a:latin typeface="UICTFontTextStyleBody"/>
              </a:rPr>
              <a:t>5. Enhance User Experience with an intuitive GUI.</a:t>
            </a:r>
            <a:endParaRPr lang="en-CA" sz="2000">
              <a:effectLst/>
              <a:latin typeface=".AppleSystemUIFont"/>
            </a:endParaRP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6357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CAD716-DB3C-3F76-191E-DC15CF0A38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640" y="623275"/>
            <a:ext cx="5411606" cy="5607882"/>
          </a:xfrm>
          <a:prstGeom prst="rect">
            <a:avLst/>
          </a:prstGeom>
        </p:spPr>
      </p:pic>
      <p:sp>
        <p:nvSpPr>
          <p:cNvPr id="7" name="Right Triangle 6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CDDDB2-D996-9487-FD5B-FC1397230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1979581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D4E687-9C92-F4C3-B9F0-FD06F7C0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100" b="1"/>
              <a:t>GUI Features Overview</a:t>
            </a:r>
            <a:r>
              <a:rPr lang="en-CA" sz="3100" b="1"/>
              <a:t>: An</a:t>
            </a:r>
            <a:r>
              <a:rPr lang="en-US" sz="3100" b="1"/>
              <a:t> Intuitive User Interface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AABCC-49F2-AC76-621E-17D4B0998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Main interface with logoAllows you to choose user role</a:t>
            </a:r>
            <a:endParaRPr lang="en-CA" sz="2000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96FA4D-C6D6-FCBF-D54E-DC1B23421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" r="9723" b="1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11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9E94F-3759-FCBA-F9BD-057384935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CA" sz="3700" b="0" i="0">
                <a:effectLst/>
                <a:latin typeface="UICTFontTextStyleBody"/>
              </a:rPr>
              <a:t>Manager interface</a:t>
            </a:r>
            <a:br>
              <a:rPr lang="en-CA" sz="3700">
                <a:effectLst/>
                <a:latin typeface=".AppleSystemUIFont"/>
              </a:rPr>
            </a:br>
            <a:endParaRPr lang="en-US" sz="37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4516E-4C20-74BF-3980-DDAD195AB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CA" sz="2000" b="0" i="0">
                <a:effectLst/>
                <a:latin typeface="UICTFontTextStyleBody"/>
              </a:rPr>
              <a:t>Allows managers to add and update product details and stock and also view sales reports</a:t>
            </a:r>
            <a:endParaRPr lang="en-CA" sz="2000">
              <a:effectLst/>
              <a:latin typeface=".AppleSystemUIFont"/>
            </a:endParaRPr>
          </a:p>
          <a:p>
            <a:pPr marL="0" indent="0">
              <a:buNone/>
            </a:pPr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4B2050-37C1-60CE-FA32-B9BB56C63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4" r="6633" b="-3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50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87128E-8899-03F0-396C-2251DA10F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2" y="2292195"/>
            <a:ext cx="4162624" cy="30561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Add </a:t>
            </a:r>
            <a:r>
              <a:rPr lang="en-US" sz="38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</a:t>
            </a:r>
            <a:r>
              <a:rPr lang="en-CA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 </a:t>
            </a:r>
            <a:r>
              <a: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product: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CA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CA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Allows manager to add a new product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3237203-E5C1-0EC3-4D7F-66DC4C5766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146" y="449036"/>
            <a:ext cx="6801031" cy="6017078"/>
          </a:xfrm>
        </p:spPr>
      </p:pic>
    </p:spTree>
    <p:extLst>
      <p:ext uri="{BB962C8B-B14F-4D97-AF65-F5344CB8AC3E}">
        <p14:creationId xmlns:p14="http://schemas.microsoft.com/office/powerpoint/2010/main" val="1462373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5C54D8-75C1-6B6F-133F-F1ACCE562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CA" sz="2500" b="1" dirty="0"/>
              <a:t>Update product</a:t>
            </a:r>
            <a:br>
              <a:rPr lang="en-CA" sz="2500" dirty="0"/>
            </a:br>
            <a:endParaRPr lang="en-US" sz="25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8433399-1468-BFD7-B348-A055B703F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24" y="2079063"/>
            <a:ext cx="4559425" cy="397958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CA" sz="2000" dirty="0"/>
              <a:t>Allows managers to update product details and stock</a:t>
            </a:r>
            <a:endParaRPr lang="en-US" sz="2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059C5B1-0901-9C49-EE7D-2E0096566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223" y="509571"/>
            <a:ext cx="6689847" cy="583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058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3A906D-859F-D82F-05D5-5E03E236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2000" b="1" dirty="0"/>
              <a:t>Sales staff interface</a:t>
            </a:r>
            <a:r>
              <a:rPr lang="en-CA" sz="2000" b="1" dirty="0"/>
              <a:t>: </a:t>
            </a:r>
            <a:endParaRPr lang="en-US" sz="2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10BB192-71C8-1D06-232F-250BCBDB7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800" dirty="0"/>
              <a:t>Allows sales Staff to add and manage sales and also view available products and their </a:t>
            </a:r>
            <a:r>
              <a:rPr lang="en-CA" sz="1800" dirty="0"/>
              <a:t>prices.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6A8433-9671-D5D0-8775-99701057F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738" y="871413"/>
            <a:ext cx="5628018" cy="488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44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676-A0D3-DD4B-0051-95A3992A3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CA" sz="2500" b="1"/>
              <a:t>Add product to sales</a:t>
            </a:r>
            <a:r>
              <a:rPr lang="en-CA" sz="2500"/>
              <a:t>: </a:t>
            </a:r>
            <a:endParaRPr lang="en-US" sz="25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ontent Placeholder 9">
            <a:extLst>
              <a:ext uri="{FF2B5EF4-FFF2-40B4-BE49-F238E27FC236}">
                <a16:creationId xmlns:a16="http://schemas.microsoft.com/office/drawing/2014/main" id="{23D861A4-D3CB-4B28-3399-0BF90199A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CA" sz="1800"/>
              <a:t>Allows sales Staff add and manage sales</a:t>
            </a:r>
            <a:endParaRPr lang="en-US" sz="18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85307FA-CFDD-9E8E-90EA-0B094B559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905560"/>
            <a:ext cx="5628018" cy="281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790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2" name="Graphic 41" descr="Laptop Secure">
            <a:extLst>
              <a:ext uri="{FF2B5EF4-FFF2-40B4-BE49-F238E27FC236}">
                <a16:creationId xmlns:a16="http://schemas.microsoft.com/office/drawing/2014/main" id="{5D5D9EEE-014E-D0CE-48FF-0F1B0AC1B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1053" y="953955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68" name="Arc 67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66A235-70CA-3A2B-B2A8-3BE74A689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61237"/>
            <a:ext cx="52578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Key Java Concepts Utilized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6BFCD-5B7B-AECD-BE98-F51DD87DC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05056"/>
            <a:ext cx="5702852" cy="437190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1500" b="1" dirty="0"/>
              <a:t>GUI Framework:</a:t>
            </a:r>
            <a:r>
              <a:rPr lang="en-US" sz="1500" dirty="0"/>
              <a:t> Java Swing (</a:t>
            </a:r>
            <a:r>
              <a:rPr lang="en-US" sz="1500" dirty="0" err="1"/>
              <a:t>JFrame</a:t>
            </a:r>
            <a:r>
              <a:rPr lang="en-US" sz="1500" dirty="0"/>
              <a:t>, </a:t>
            </a:r>
            <a:r>
              <a:rPr lang="en-US" sz="1500" dirty="0" err="1"/>
              <a:t>JTable</a:t>
            </a:r>
            <a:r>
              <a:rPr lang="en-US" sz="1500" dirty="0"/>
              <a:t>, </a:t>
            </a:r>
            <a:r>
              <a:rPr lang="en-US" sz="1500" dirty="0" err="1"/>
              <a:t>JButton</a:t>
            </a:r>
            <a:r>
              <a:rPr lang="en-US" sz="1500" dirty="0"/>
              <a:t>) for a cross-platform interface.</a:t>
            </a:r>
            <a:endParaRPr lang="en-GB" sz="1500" dirty="0"/>
          </a:p>
          <a:p>
            <a:pPr marL="0" indent="0">
              <a:buNone/>
            </a:pPr>
            <a:r>
              <a:rPr lang="en-US" sz="1500" b="1" dirty="0"/>
              <a:t>Event Handling</a:t>
            </a:r>
            <a:r>
              <a:rPr lang="en-US" sz="1500" dirty="0"/>
              <a:t>: </a:t>
            </a:r>
            <a:r>
              <a:rPr lang="en-US" sz="1500" dirty="0" err="1"/>
              <a:t>ActionListener</a:t>
            </a:r>
            <a:r>
              <a:rPr lang="en-US" sz="1500" dirty="0"/>
              <a:t> to make buttons responsive (e.g., "Add to Sale").</a:t>
            </a:r>
            <a:endParaRPr lang="en-GB" sz="1500" dirty="0"/>
          </a:p>
          <a:p>
            <a:pPr marL="0" indent="0">
              <a:buNone/>
            </a:pPr>
            <a:r>
              <a:rPr lang="en-US" sz="1500" b="1" dirty="0"/>
              <a:t>OOP Principles (Encapsulation):</a:t>
            </a:r>
            <a:r>
              <a:rPr lang="en-US" sz="1500" dirty="0"/>
              <a:t> Used private fields with public getters/setters to protect data integrity and creation of methods to be called and access anywhere in code</a:t>
            </a:r>
            <a:r>
              <a:rPr lang="en-GB" sz="1500" dirty="0"/>
              <a:t>.</a:t>
            </a:r>
          </a:p>
          <a:p>
            <a:pPr marL="0" indent="0">
              <a:buNone/>
            </a:pPr>
            <a:r>
              <a:rPr lang="en-US" sz="1500" b="1" dirty="0"/>
              <a:t>Data</a:t>
            </a:r>
            <a:r>
              <a:rPr lang="en-US" sz="1500" dirty="0"/>
              <a:t> </a:t>
            </a:r>
            <a:r>
              <a:rPr lang="en-US" sz="1500" b="1" dirty="0"/>
              <a:t>Structures:</a:t>
            </a:r>
            <a:r>
              <a:rPr lang="en-US" sz="1500" dirty="0"/>
              <a:t> </a:t>
            </a:r>
            <a:r>
              <a:rPr lang="en-US" sz="1500" dirty="0" err="1"/>
              <a:t>ArrayList</a:t>
            </a:r>
            <a:r>
              <a:rPr lang="en-US" sz="1500" dirty="0"/>
              <a:t> for dynamic and flexible data storage</a:t>
            </a:r>
            <a:r>
              <a:rPr lang="en-CA" sz="1500" dirty="0"/>
              <a:t>.</a:t>
            </a:r>
          </a:p>
          <a:p>
            <a:pPr marL="0" indent="0">
              <a:buNone/>
            </a:pPr>
            <a:endParaRPr lang="en-GB" sz="1500" dirty="0"/>
          </a:p>
          <a:p>
            <a:pPr marL="0" indent="0">
              <a:buNone/>
            </a:pPr>
            <a:endParaRPr lang="en-CA" sz="1500" dirty="0"/>
          </a:p>
          <a:p>
            <a:pPr marL="0" indent="0">
              <a:buNone/>
            </a:pPr>
            <a:r>
              <a:rPr lang="en-CA" sz="4100" b="1" dirty="0">
                <a:latin typeface="+mj-lt"/>
              </a:rPr>
              <a:t>Challenges &amp; Lessons Learned</a:t>
            </a:r>
            <a:endParaRPr lang="en-GB" sz="4100" b="1" dirty="0">
              <a:latin typeface="+mj-lt"/>
            </a:endParaRPr>
          </a:p>
          <a:p>
            <a:pPr marL="0" indent="0">
              <a:buNone/>
            </a:pPr>
            <a:endParaRPr lang="en-CA" sz="4000" b="1" dirty="0">
              <a:latin typeface="+mj-lt"/>
            </a:endParaRPr>
          </a:p>
          <a:p>
            <a:r>
              <a:rPr lang="en-CA" sz="1500" b="1" i="0" dirty="0">
                <a:effectLst/>
                <a:latin typeface="UICTFontTextStyleBody"/>
              </a:rPr>
              <a:t>Choosing the Right Data Structure</a:t>
            </a:r>
            <a:endParaRPr lang="en-CA" sz="1500" b="1" dirty="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en-CA" sz="1500" b="0" i="0" dirty="0">
                <a:effectLst/>
                <a:latin typeface="UICTFontTextStyleBody"/>
              </a:rPr>
              <a:t>Why ArrayList Over Regular Arrays?</a:t>
            </a:r>
            <a:endParaRPr lang="en-CA" sz="1500" dirty="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en-CA" sz="1500" b="0" i="0" dirty="0">
                <a:effectLst/>
                <a:latin typeface="UICTFontTextStyleBody"/>
              </a:rPr>
              <a:t>We initially considered using regular arrays.</a:t>
            </a:r>
            <a:endParaRPr lang="en-CA" sz="1500" dirty="0">
              <a:effectLst/>
              <a:latin typeface=".AppleSystemUIFont"/>
            </a:endParaRPr>
          </a:p>
          <a:p>
            <a:r>
              <a:rPr lang="en-CA" sz="1500" b="1" i="0" dirty="0">
                <a:effectLst/>
                <a:latin typeface="UICTFontTextStyleBody"/>
              </a:rPr>
              <a:t>Challenges with Arrays:</a:t>
            </a:r>
            <a:endParaRPr lang="en-CA" sz="1500" b="1" dirty="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en-CA" sz="1500" b="0" i="0" dirty="0">
                <a:effectLst/>
                <a:latin typeface="UICTFontTextStyleBody"/>
              </a:rPr>
              <a:t>Fixed Size: You must know the maximum number of products/sales in advance.</a:t>
            </a:r>
            <a:endParaRPr lang="en-CA" sz="1500" dirty="0">
              <a:effectLst/>
              <a:latin typeface=".AppleSystemUIFont"/>
            </a:endParaRPr>
          </a:p>
          <a:p>
            <a:pPr marL="0" indent="0">
              <a:buNone/>
            </a:pPr>
            <a:endParaRPr lang="en-CA" sz="1500" dirty="0"/>
          </a:p>
        </p:txBody>
      </p:sp>
    </p:spTree>
    <p:extLst>
      <p:ext uri="{BB962C8B-B14F-4D97-AF65-F5344CB8AC3E}">
        <p14:creationId xmlns:p14="http://schemas.microsoft.com/office/powerpoint/2010/main" val="2402451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8" name="Arc 12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106FB6-2370-6E97-F1B8-2C32BBD7F354}"/>
              </a:ext>
            </a:extLst>
          </p:cNvPr>
          <p:cNvSpPr txBox="1"/>
          <p:nvPr/>
        </p:nvSpPr>
        <p:spPr>
          <a:xfrm>
            <a:off x="828161" y="1074694"/>
            <a:ext cx="10515600" cy="5191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 dirty="0">
                <a:effectLst/>
              </a:rPr>
              <a:t>Benefits of </a:t>
            </a:r>
            <a:r>
              <a:rPr lang="en-GB" sz="1700" b="1" i="0" dirty="0" err="1">
                <a:effectLst/>
              </a:rPr>
              <a:t>ArrayLists</a:t>
            </a:r>
            <a:r>
              <a:rPr lang="en-US" sz="1700" dirty="0"/>
              <a:t>:</a:t>
            </a:r>
            <a:endParaRPr lang="en-US" sz="1700" b="0" i="0" dirty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0" i="0" dirty="0">
                <a:effectLst/>
              </a:rPr>
              <a:t>Dynamic Sizing: It grows automatically as you add more items.</a:t>
            </a:r>
            <a:endParaRPr lang="en-US" sz="1700" dirty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0" i="0" dirty="0">
                <a:effectLst/>
              </a:rPr>
              <a:t>Convenience: Built-in methods like .add(), .remove(), and .get() make coding much simpler and cleaner.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CA" sz="1700" b="1" i="0" dirty="0">
              <a:effectLst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effectLst/>
              </a:rPr>
              <a:t>Temporary Data Storage</a:t>
            </a: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>
                <a:effectLst/>
              </a:rPr>
              <a:t>Our initial design used ArrayLists stored in memory (RAM).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dirty="0">
                <a:effectLst/>
              </a:rPr>
              <a:t>Problem</a:t>
            </a:r>
            <a:r>
              <a:rPr lang="en-US" sz="1700" dirty="0">
                <a:effectLst/>
              </a:rPr>
              <a:t>: All product and sales data would be lost every time the application closed!</a:t>
            </a:r>
            <a:endParaRPr lang="en-CA" sz="1700" dirty="0">
              <a:effectLst/>
            </a:endParaRPr>
          </a:p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CA" sz="1700" b="1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dirty="0">
                <a:effectLst/>
              </a:rPr>
              <a:t>The Solution</a:t>
            </a:r>
            <a:r>
              <a:rPr lang="en-US" sz="1700" dirty="0">
                <a:effectLst/>
              </a:rPr>
              <a:t>: File I/O. We  implemented file handling to read product data from a file on startup.Sales and updated product information are saved back to files automatically and can be accessed anytime the application is opened.</a:t>
            </a:r>
            <a:endParaRPr lang="en-CA" sz="1700" b="1" dirty="0"/>
          </a:p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CA" sz="1700" b="1" i="0" dirty="0">
              <a:effectLst/>
            </a:endParaRPr>
          </a:p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 dirty="0">
                <a:effectLst/>
              </a:rPr>
              <a:t>Reading the Saved Data</a:t>
            </a:r>
            <a:r>
              <a:rPr lang="en-US" sz="1700" b="0" i="0" dirty="0">
                <a:effectLst/>
              </a:rPr>
              <a:t>:</a:t>
            </a:r>
            <a:endParaRPr lang="en-GB" sz="1700" b="0" i="0" dirty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0" i="0" dirty="0">
                <a:effectLst/>
              </a:rPr>
              <a:t>We saved the data in a simple text format, with commas between each piece of information (like Laptop,500.00,10).  To get the data back, we learned to use line.split(","). This command takes a line of text from the file and cuts it into pieces wherever it sees a comma. This let us easily get the product name, price, and quantity back from the file to use in our program.</a:t>
            </a:r>
            <a:endParaRPr lang="en-CA" sz="1700" b="1" dirty="0"/>
          </a:p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CA" sz="1700" b="1" i="0" dirty="0">
              <a:effectLst/>
            </a:endParaRPr>
          </a:p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CA" sz="1700" b="1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b="0" i="0" dirty="0">
              <a:effectLst/>
            </a:endParaRPr>
          </a:p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b="0" i="0" dirty="0">
              <a:effectLst/>
            </a:endParaRPr>
          </a:p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effectLst/>
            </a:endParaRPr>
          </a:p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effectLst/>
            </a:endParaRPr>
          </a:p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65915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Retail Management System</vt:lpstr>
      <vt:lpstr>Meet PrimeTech Electronics Ghana </vt:lpstr>
      <vt:lpstr>Project Objectives </vt:lpstr>
      <vt:lpstr>Flowchart</vt:lpstr>
      <vt:lpstr>GUI Features Overview: An Intuitive User Interface</vt:lpstr>
      <vt:lpstr>Manager interface </vt:lpstr>
      <vt:lpstr>Add new product:   Allows manager to add a new product</vt:lpstr>
      <vt:lpstr>Update product </vt:lpstr>
      <vt:lpstr>Sales staff interface: </vt:lpstr>
      <vt:lpstr>Add product to sales: </vt:lpstr>
      <vt:lpstr>Key Java Concepts Utilized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Management System</dc:title>
  <dc:creator>Shane-Tobien Fletcher</dc:creator>
  <cp:lastModifiedBy>Kenn Chima</cp:lastModifiedBy>
  <cp:revision>5</cp:revision>
  <dcterms:created xsi:type="dcterms:W3CDTF">2025-11-15T11:33:33Z</dcterms:created>
  <dcterms:modified xsi:type="dcterms:W3CDTF">2025-11-15T17:54:57Z</dcterms:modified>
</cp:coreProperties>
</file>